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Bob — Base SecureDSC</c:v>
                </c:pt>
              </c:strCache>
            </c:strRef>
          </c:tx>
          <c:spPr>
            <a:solidFill>
              <a:srgbClr val="1B7F79"/>
            </a:solidFill>
            <a:ln w="31750" cap="flat">
              <a:solidFill>
                <a:srgbClr val="1B7F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7F79"/>
              </a:solidFill>
              <a:ln w="9525" cap="flat">
                <a:solidFill>
                  <a:srgbClr val="1B7F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  <c:pt idx="5">
                    <c:v>15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0.52</c:v>
                </c:pt>
                <c:pt idx="1">
                  <c:v>0.7</c:v>
                </c:pt>
                <c:pt idx="2">
                  <c:v>0.82</c:v>
                </c:pt>
                <c:pt idx="3">
                  <c:v>0.9</c:v>
                </c:pt>
                <c:pt idx="4">
                  <c:v>0.94</c:v>
                </c:pt>
                <c:pt idx="5">
                  <c:v>0.97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Bob — Enhanced SecureDSC</c:v>
                </c:pt>
              </c:strCache>
            </c:strRef>
          </c:tx>
          <c:spPr>
            <a:solidFill>
              <a:srgbClr val="E8A020"/>
            </a:solidFill>
            <a:ln w="31750" cap="flat">
              <a:solidFill>
                <a:srgbClr val="E8A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  <c:pt idx="5">
                    <c:v>15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0.54</c:v>
                </c:pt>
                <c:pt idx="1">
                  <c:v>0.72</c:v>
                </c:pt>
                <c:pt idx="2">
                  <c:v>0.85</c:v>
                </c:pt>
                <c:pt idx="3">
                  <c:v>0.92</c:v>
                </c:pt>
                <c:pt idx="4">
                  <c:v>0.96</c:v>
                </c:pt>
                <c:pt idx="5">
                  <c:v>0.97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Eve — Base SecureDSC</c:v>
                </c:pt>
              </c:strCache>
            </c:strRef>
          </c:tx>
          <c:spPr>
            <a:solidFill>
              <a:srgbClr val="D94F3D"/>
            </a:solidFill>
            <a:ln w="31750" cap="flat">
              <a:solidFill>
                <a:srgbClr val="D94F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4F3D"/>
              </a:solidFill>
              <a:ln w="9525" cap="flat">
                <a:solidFill>
                  <a:srgbClr val="D94F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  <c:pt idx="5">
                    <c:v>15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0.16</c:v>
                </c:pt>
                <c:pt idx="1">
                  <c:v>0.17</c:v>
                </c:pt>
                <c:pt idx="2">
                  <c:v>0.17</c:v>
                </c:pt>
                <c:pt idx="3">
                  <c:v>0.18</c:v>
                </c:pt>
                <c:pt idx="4">
                  <c:v>0.18</c:v>
                </c:pt>
                <c:pt idx="5">
                  <c:v>0.19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Eve — Enhanced SecureDSC</c:v>
                </c:pt>
              </c:strCache>
            </c:strRef>
          </c:tx>
          <c:spPr>
            <a:solidFill>
              <a:srgbClr val="5B4BB8"/>
            </a:solidFill>
            <a:ln w="31750" cap="flat">
              <a:solidFill>
                <a:srgbClr val="5B4B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4BB8"/>
              </a:solidFill>
              <a:ln w="9525" cap="flat">
                <a:solidFill>
                  <a:srgbClr val="5B4B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  <c:pt idx="5">
                    <c:v>15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0.1</c:v>
                </c:pt>
                <c:pt idx="1">
                  <c:v>0.11</c:v>
                </c:pt>
                <c:pt idx="2">
                  <c:v>0.12</c:v>
                </c:pt>
                <c:pt idx="3">
                  <c:v>0.12</c:v>
                </c:pt>
                <c:pt idx="4">
                  <c:v>0.13</c:v>
                </c:pt>
                <c:pt idx="5">
                  <c:v>0.13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SecureDSC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Transmission in Wireless Semantic Communications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A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CSI-Based Key Generation &amp; Adaptive Adversarial Training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B7F79">
              <a:alpha val="70000"/>
            </a:srgbClr>
          </a:solidFill>
          <a:ln w="12700">
            <a:solidFill>
              <a:srgbClr val="2AAD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520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Proposal  |  IEEE Comm. Letters 2025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|  [Roll No.]  |  [Department]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206240" cy="658368"/>
          </a:xfrm>
          <a:prstGeom prst="rect">
            <a:avLst/>
          </a:prstGeom>
          <a:solidFill>
            <a:srgbClr val="1B7F79">
              <a:alpha val="12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601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96012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46504"/>
            <a:ext cx="4206240" cy="658368"/>
          </a:xfrm>
          <a:prstGeom prst="rect">
            <a:avLst/>
          </a:prstGeom>
          <a:solidFill>
            <a:srgbClr val="2AADA5">
              <a:alpha val="12000"/>
            </a:srgbClr>
          </a:solidFill>
          <a:ln w="12700">
            <a:solidFill>
              <a:srgbClr val="2AAD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4650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AD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74650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— SecureDSC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4206240" cy="658368"/>
          </a:xfrm>
          <a:prstGeom prst="rect">
            <a:avLst/>
          </a:prstGeom>
          <a:solidFill>
            <a:srgbClr val="D94F3D">
              <a:alpha val="12000"/>
            </a:srgbClr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3288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532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Problem Statement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19272"/>
            <a:ext cx="4206240" cy="658368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31927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4128" y="331927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1 — CSI Key Gen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05656"/>
            <a:ext cx="4206240" cy="658368"/>
          </a:xfrm>
          <a:prstGeom prst="rect">
            <a:avLst/>
          </a:prstGeom>
          <a:solidFill>
            <a:srgbClr val="5B4BB8">
              <a:alpha val="12000"/>
            </a:srgbClr>
          </a:solidFill>
          <a:ln w="12700">
            <a:solidFill>
              <a:srgbClr val="5B4B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10565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4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410565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2 — Adaptive 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960120"/>
            <a:ext cx="4206240" cy="658368"/>
          </a:xfrm>
          <a:prstGeom prst="rect">
            <a:avLst/>
          </a:prstGeom>
          <a:solidFill>
            <a:srgbClr val="1B7F79">
              <a:alpha val="12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9601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96128" y="96012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746504"/>
            <a:ext cx="4206240" cy="658368"/>
          </a:xfrm>
          <a:prstGeom prst="rect">
            <a:avLst/>
          </a:prstGeom>
          <a:solidFill>
            <a:srgbClr val="2AADA5">
              <a:alpha val="12000"/>
            </a:srgbClr>
          </a:solidFill>
          <a:ln w="12700">
            <a:solidFill>
              <a:srgbClr val="2AAD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174650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AD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96128" y="174650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Algorithm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2532888"/>
            <a:ext cx="4206240" cy="658368"/>
          </a:xfrm>
          <a:prstGeom prst="rect">
            <a:avLst/>
          </a:prstGeom>
          <a:solidFill>
            <a:srgbClr val="0D1B2A">
              <a:alpha val="12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53288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96128" y="2532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3319272"/>
            <a:ext cx="4206240" cy="658368"/>
          </a:xfrm>
          <a:prstGeom prst="rect">
            <a:avLst/>
          </a:prstGeom>
          <a:solidFill>
            <a:srgbClr val="1A2535">
              <a:alpha val="12000"/>
            </a:srgbClr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331927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96128" y="331927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Deliverables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B7F79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Motivation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Semantic Communications?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517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8A9B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651760" cy="43891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raw bits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coded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bandwidth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960120"/>
            <a:ext cx="26517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960120"/>
            <a:ext cx="2651760" cy="43891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9601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15087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meaning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DL-compressed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bandwidth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960120"/>
            <a:ext cx="26517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960120"/>
            <a:ext cx="265176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9601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15087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meaning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features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cannot decode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wireless channel is a security risk — semantic features transmitted in plaintext can be intercepted.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B7F79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 — SecureDSC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SecureDSC — System Model (Shi et al., 2025)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645920" cy="7772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399032"/>
            <a:ext cx="274320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2194560" y="1005840"/>
            <a:ext cx="1645920" cy="777240"/>
          </a:xfrm>
          <a:prstGeom prst="rect">
            <a:avLst/>
          </a:prstGeom>
          <a:solidFill>
            <a:srgbClr val="2AADA5"/>
          </a:solidFill>
          <a:ln w="12700">
            <a:solidFill>
              <a:srgbClr val="2AAD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10058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Key 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399032"/>
            <a:ext cx="274320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114800" y="1005840"/>
            <a:ext cx="1645920" cy="7772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10058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8229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(TX)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2103120"/>
            <a:ext cx="3200400" cy="64008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17520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Channel  (AWGN / Rayleigh)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7520" y="1399032"/>
            <a:ext cx="0" cy="704088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423160"/>
            <a:ext cx="0" cy="64008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200400"/>
            <a:ext cx="1645920" cy="7772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3200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3593592"/>
            <a:ext cx="274320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297680" y="3200400"/>
            <a:ext cx="1645920" cy="777240"/>
          </a:xfrm>
          <a:prstGeom prst="rect">
            <a:avLst/>
          </a:prstGeom>
          <a:solidFill>
            <a:srgbClr val="2AADA5"/>
          </a:solidFill>
          <a:ln w="12700">
            <a:solidFill>
              <a:srgbClr val="2AAD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0" y="3200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Key 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3593592"/>
            <a:ext cx="274320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2377440" y="3200400"/>
            <a:ext cx="1645920" cy="7772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377440" y="3200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0175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(RX)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103120"/>
            <a:ext cx="2560320" cy="640080"/>
          </a:xfrm>
          <a:prstGeom prst="rect">
            <a:avLst/>
          </a:prstGeom>
          <a:solidFill>
            <a:srgbClr val="D94F3D">
              <a:alpha val="90000"/>
            </a:srgbClr>
          </a:solidFill>
          <a:ln w="12700">
            <a:solidFill>
              <a:srgbClr val="D94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— eavesdropper (random key r)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20" y="4206240"/>
            <a:ext cx="3200400" cy="502920"/>
          </a:xfrm>
          <a:prstGeom prst="rect">
            <a:avLst/>
          </a:prstGeom>
          <a:solidFill>
            <a:srgbClr val="E8A020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session key k  (randomly generated — fixed λ=6)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B7F79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&amp; Problem Statement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Base Paper Leaves Unsolved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05840" cy="16916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005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106984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Session Keys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1435608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drawn randomly per batch with no physical grounding. This requires a secure out-of-band key exchange channel — a significant practical limitation.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225856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Enhancement 1: derive keys from channel state information (CSI)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5B4B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926080"/>
            <a:ext cx="1005840" cy="1691640"/>
          </a:xfrm>
          <a:prstGeom prst="rect">
            <a:avLst/>
          </a:prstGeom>
          <a:solidFill>
            <a:srgbClr val="5B4BB8"/>
          </a:solidFill>
          <a:ln w="12700">
            <a:solidFill>
              <a:srgbClr val="5B4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26080"/>
            <a:ext cx="1005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303580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Hyperparameter λ = 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3401568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adversarial balance term λ is set manually. The right value changes with SNR regime, dataset, and training phase — making the system brittle across configurations.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422452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Enhancement 2: replace with adaptive λ scheduler (self-correcting)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B7F79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Enhancement 1 — CSI Key Generation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Enhancement 1 — Physically Derived Session Keys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377440" cy="3474720"/>
          </a:xfrm>
          <a:prstGeom prst="rect">
            <a:avLst/>
          </a:prstGeom>
          <a:solidFill>
            <a:srgbClr val="EBF4F3"/>
          </a:solidFill>
          <a:ln w="1905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103120" cy="594360"/>
          </a:xfrm>
          <a:prstGeom prst="rect">
            <a:avLst/>
          </a:prstGeom>
          <a:solidFill>
            <a:srgbClr val="1B7F79">
              <a:alpha val="80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signal TX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2103120" cy="594360"/>
          </a:xfrm>
          <a:prstGeom prst="rect">
            <a:avLst/>
          </a:prstGeom>
          <a:solidFill>
            <a:srgbClr val="1B7F79">
              <a:alpha val="80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8483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estimator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h_A = estimate(pilot)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798064"/>
            <a:ext cx="2103120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9806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Key-gen NN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k_A = f_θ(h_A)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511296"/>
            <a:ext cx="2103120" cy="594360"/>
          </a:xfrm>
          <a:prstGeom prst="rect">
            <a:avLst/>
          </a:prstGeom>
          <a:solidFill>
            <a:srgbClr val="1B7F79">
              <a:alpha val="80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11296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Encryptor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1920240"/>
            <a:ext cx="3291840" cy="5486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920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wireless channel  (h_AB ≈ h_BA)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2743200"/>
            <a:ext cx="3291840" cy="1005840"/>
          </a:xfrm>
          <a:prstGeom prst="rect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Reciprocity Theorem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3063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h_Alice→Bob ≈ h_Bob→Alice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∴ same NN → same key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3931920"/>
            <a:ext cx="3291840" cy="502920"/>
          </a:xfrm>
          <a:prstGeom prst="rect">
            <a:avLst/>
          </a:prstGeom>
          <a:solidFill>
            <a:srgbClr val="D94F3D">
              <a:alpha val="80000"/>
            </a:srgbClr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3931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Eve: h_E ≠ h_AB  →  different key  →  decryption fails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960120"/>
            <a:ext cx="2377440" cy="3474720"/>
          </a:xfrm>
          <a:prstGeom prst="rect">
            <a:avLst/>
          </a:prstGeom>
          <a:solidFill>
            <a:srgbClr val="EBF4F3"/>
          </a:solidFill>
          <a:ln w="1905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960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1371600"/>
            <a:ext cx="2103120" cy="594360"/>
          </a:xfrm>
          <a:prstGeom prst="rect">
            <a:avLst/>
          </a:prstGeom>
          <a:solidFill>
            <a:srgbClr val="1B7F79">
              <a:alpha val="80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371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signal RX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37960" y="2084832"/>
            <a:ext cx="2103120" cy="594360"/>
          </a:xfrm>
          <a:prstGeom prst="rect">
            <a:avLst/>
          </a:prstGeom>
          <a:solidFill>
            <a:srgbClr val="1B7F79">
              <a:alpha val="80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08483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estimator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h_B = estimate(pilot)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37960" y="2798064"/>
            <a:ext cx="2103120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79806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Key-gen NN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k_B = f_θ(h_B)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37960" y="3511296"/>
            <a:ext cx="2103120" cy="594360"/>
          </a:xfrm>
          <a:prstGeom prst="rect">
            <a:avLst/>
          </a:prstGeom>
          <a:solidFill>
            <a:srgbClr val="1B7F79">
              <a:alpha val="80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511296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Decryptor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training loss:  L_key = MSE(k_A, k_B)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B7F79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Enhancement 2 — Adaptive λ Scheduler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Enhancement 2 — Self-Correcting Adversarial Loss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B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(fixed λ)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L_joint  =  L_Bob  +  |L_Eve − 6|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749040" cy="640080"/>
          </a:xfrm>
          <a:prstGeom prst="rect">
            <a:avLst/>
          </a:prstGeom>
          <a:solidFill>
            <a:srgbClr val="D94F3D">
              <a:alpha val="20000"/>
            </a:srgbClr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λ = 6 is brittle — wrong for different SNR regimes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 self-correction during training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319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5B4B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960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4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(adaptive λ)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L_joint  =  L_Bob  +  |L_Eve − λ(t)|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37760" y="2011680"/>
            <a:ext cx="3749040" cy="640080"/>
          </a:xfrm>
          <a:prstGeom prst="rect">
            <a:avLst/>
          </a:prstGeom>
          <a:solidFill>
            <a:srgbClr val="1B7F79">
              <a:alpha val="20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011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λ(t) updates every epoch — no manual tuning needed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Self-correcting across all SNR conditions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8412480" cy="1645920"/>
          </a:xfrm>
          <a:prstGeom prst="rect">
            <a:avLst/>
          </a:prstGeom>
          <a:solidFill>
            <a:srgbClr val="5B4BB8">
              <a:alpha val="10000"/>
            </a:srgbClr>
          </a:solidFill>
          <a:ln w="19050">
            <a:solidFill>
              <a:srgbClr val="5B4B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35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Update Rule (runs once per epoch)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456432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25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gap  =  L_Eve − L_Bob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803904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25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direction  =  +1  if  gap &lt; target_gap  else  −1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4151376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25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λ(t+1)  =  clip( λ(t)  +  η · direction,  λ_min,  λ_max 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B7F79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SecureDSC — Complete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1371600" cy="5486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0" y="960120"/>
            <a:ext cx="1371600" cy="548640"/>
          </a:xfrm>
          <a:prstGeom prst="rect">
            <a:avLst/>
          </a:prstGeom>
          <a:solidFill>
            <a:srgbClr val="2AADA5"/>
          </a:solidFill>
          <a:ln w="12700">
            <a:solidFill>
              <a:srgbClr val="2AAD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960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960120"/>
            <a:ext cx="1371600" cy="5486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960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80467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(TX)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37760" y="960120"/>
            <a:ext cx="1371600" cy="5486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60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960120"/>
            <a:ext cx="1371600" cy="5486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960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1645920"/>
            <a:ext cx="1371600" cy="548640"/>
          </a:xfrm>
          <a:prstGeom prst="rect">
            <a:avLst/>
          </a:prstGeom>
          <a:solidFill>
            <a:srgbClr val="2AADA5"/>
          </a:solidFill>
          <a:ln w="12700">
            <a:solidFill>
              <a:srgbClr val="2AAD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645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2331720"/>
            <a:ext cx="1371600" cy="5486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80467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(RX)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194560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21945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3063240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306324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560320"/>
            <a:ext cx="2834640" cy="658368"/>
          </a:xfrm>
          <a:prstGeom prst="rect">
            <a:avLst/>
          </a:prstGeom>
          <a:solidFill>
            <a:srgbClr val="5B4BB8"/>
          </a:solidFill>
          <a:ln w="12700">
            <a:solidFill>
              <a:srgbClr val="5B4B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0" y="25603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Adaptive λ Scheduler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L_joint = L_B + |L_E − λ(t)|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1645920"/>
            <a:ext cx="1371600" cy="548640"/>
          </a:xfrm>
          <a:prstGeom prst="rect">
            <a:avLst/>
          </a:prstGeom>
          <a:solidFill>
            <a:srgbClr val="D94F3D">
              <a:alpha val="85000"/>
            </a:srgbClr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645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(intercepts)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526280"/>
            <a:ext cx="201168" cy="20116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5079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SecureDSC component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14600" y="4526280"/>
            <a:ext cx="20116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61488" y="45079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1 — CSI key gen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526280"/>
            <a:ext cx="201168" cy="201168"/>
          </a:xfrm>
          <a:prstGeom prst="rect">
            <a:avLst/>
          </a:prstGeom>
          <a:solidFill>
            <a:srgbClr val="5B4BB8"/>
          </a:solidFill>
          <a:ln w="12700">
            <a:solidFill>
              <a:srgbClr val="5B4B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45079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2 — Adaptive λ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12280" y="4526280"/>
            <a:ext cx="201168" cy="20116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45079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(Eve)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B7F79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Algorithm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Modified Algorithm 1 — Training SecureDSC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8229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149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  (batch % 4 = 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624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semantic encoder/decoder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106424"/>
            <a:ext cx="2743200" cy="512064"/>
          </a:xfrm>
          <a:prstGeom prst="rect">
            <a:avLst/>
          </a:prstGeom>
          <a:solidFill>
            <a:srgbClr val="1B7F79">
              <a:alpha val="15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10642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A25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L_sem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AD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109728" cy="822960"/>
          </a:xfrm>
          <a:prstGeom prst="rect">
            <a:avLst/>
          </a:prstGeom>
          <a:solidFill>
            <a:srgbClr val="2AADA5"/>
          </a:solidFill>
          <a:ln w="12700">
            <a:solidFill>
              <a:srgbClr val="2AAD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751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AD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 (batch % 4 = 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322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encryptor/decryptor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066544"/>
            <a:ext cx="2743200" cy="512064"/>
          </a:xfrm>
          <a:prstGeom prst="rect">
            <a:avLst/>
          </a:prstGeom>
          <a:solidFill>
            <a:srgbClr val="2AADA5">
              <a:alpha val="15000"/>
            </a:srgbClr>
          </a:solidFill>
          <a:ln w="12700">
            <a:solidFill>
              <a:srgbClr val="2AAD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06654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A25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L_cip + 0.5 · L_key 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4B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109728" cy="822960"/>
          </a:xfrm>
          <a:prstGeom prst="rect">
            <a:avLst/>
          </a:prstGeom>
          <a:solidFill>
            <a:srgbClr val="5B4BB8"/>
          </a:solidFill>
          <a:ln w="12700">
            <a:solidFill>
              <a:srgbClr val="5B4B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352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4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 (batch % 4 = 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2826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whole network (joint loss)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3026664"/>
            <a:ext cx="2743200" cy="512064"/>
          </a:xfrm>
          <a:prstGeom prst="rect">
            <a:avLst/>
          </a:prstGeom>
          <a:solidFill>
            <a:srgbClr val="5B4BB8">
              <a:alpha val="15000"/>
            </a:srgbClr>
          </a:solidFill>
          <a:ln w="12700">
            <a:solidFill>
              <a:srgbClr val="5B4B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02666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A25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L_joint + 0.3 · L_key 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4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40480"/>
            <a:ext cx="109728" cy="82296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953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 (batch % 4 = 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2428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Eve's network independently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3986784"/>
            <a:ext cx="2743200" cy="512064"/>
          </a:xfrm>
          <a:prstGeom prst="rect">
            <a:avLst/>
          </a:prstGeom>
          <a:solidFill>
            <a:srgbClr val="D94F3D">
              <a:alpha val="15000"/>
            </a:srgbClr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398678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A25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L_Eve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5B4BB8">
              <a:alpha val="20000"/>
            </a:srgbClr>
          </a:solidFill>
          <a:ln w="12700">
            <a:solidFill>
              <a:srgbClr val="5B4B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each epoch:  update λ(t+1) via adaptive scheduler  ★  |  update key consistency loss  ★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B7F79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Results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Performance — BLEU Score Comparison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834640" cy="768096"/>
          </a:xfrm>
          <a:prstGeom prst="rect">
            <a:avLst/>
          </a:prstGeom>
          <a:solidFill>
            <a:srgbClr val="FFFFFF"/>
          </a:solidFill>
          <a:ln w="2540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960120"/>
            <a:ext cx="91440" cy="76809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996696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BLEU-1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15 dB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78040" y="99669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178040" y="1417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0" y="1856232"/>
            <a:ext cx="2834640" cy="768096"/>
          </a:xfrm>
          <a:prstGeom prst="rect">
            <a:avLst/>
          </a:prstGeom>
          <a:solidFill>
            <a:srgbClr val="FFFFFF"/>
          </a:solidFill>
          <a:ln w="25400">
            <a:solidFill>
              <a:srgbClr val="D94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856232"/>
            <a:ext cx="91440" cy="76809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1892808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BLEU-1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SNR)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78040" y="18928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0.13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78040" y="23134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vs 0.19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3600" y="2752344"/>
            <a:ext cx="2834640" cy="768096"/>
          </a:xfrm>
          <a:prstGeom prst="rect">
            <a:avLst/>
          </a:prstGeom>
          <a:solidFill>
            <a:srgbClr val="FFFFFF"/>
          </a:solidFill>
          <a:ln w="254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2752344"/>
            <a:ext cx="91440" cy="7680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2788920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agree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12 dB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178040" y="278892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95%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178040" y="32095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1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43600" y="3648456"/>
            <a:ext cx="2834640" cy="768096"/>
          </a:xfrm>
          <a:prstGeom prst="rect">
            <a:avLst/>
          </a:prstGeom>
          <a:solidFill>
            <a:srgbClr val="FFFFFF"/>
          </a:solidFill>
          <a:ln w="25400">
            <a:solidFill>
              <a:srgbClr val="5B4B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0" y="3648456"/>
            <a:ext cx="91440" cy="768096"/>
          </a:xfrm>
          <a:prstGeom prst="rect">
            <a:avLst/>
          </a:prstGeom>
          <a:solidFill>
            <a:srgbClr val="5B4BB8"/>
          </a:solidFill>
          <a:ln w="12700">
            <a:solidFill>
              <a:srgbClr val="5B4B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3685032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tuning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78040" y="368503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4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178040" y="41056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B7F79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Deliverables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— 6 Months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F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2918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1 — Literature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base paper, DeepSC, physical-layer key gen research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AD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4114800" cy="329184"/>
          </a:xfrm>
          <a:prstGeom prst="rect">
            <a:avLst/>
          </a:prstGeom>
          <a:solidFill>
            <a:srgbClr val="2AADA5"/>
          </a:solidFill>
          <a:ln w="12700">
            <a:solidFill>
              <a:srgbClr val="2AAD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2 — Implementation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SecureDSC baseline in PyTorch, reproduce paper results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4114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20440"/>
            <a:ext cx="4114800" cy="32918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204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3 — Enhancement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CSI key generator, simulate channel reciprocity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960120"/>
            <a:ext cx="4114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5B4B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960120"/>
            <a:ext cx="4114800" cy="329184"/>
          </a:xfrm>
          <a:prstGeom prst="rect">
            <a:avLst/>
          </a:prstGeom>
          <a:solidFill>
            <a:srgbClr val="5B4BB8"/>
          </a:solidFill>
          <a:ln w="12700">
            <a:solidFill>
              <a:srgbClr val="5B4B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9601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4 — Enhancement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3258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adaptive λ scheduler, integrate with training loop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4114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5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240280"/>
            <a:ext cx="4114800" cy="329184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2402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5 — Experiments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6060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BLEU evaluations, key agreement rates, ablation study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520440"/>
            <a:ext cx="4114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520440"/>
            <a:ext cx="411480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5204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6 — Report &amp; Submission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8862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final report, prepare demo, conference paper draft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B7F79">
              <a:alpha val="70000"/>
            </a:srgbClr>
          </a:solidFill>
          <a:ln w="12700">
            <a:solidFill>
              <a:srgbClr val="2AAD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520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— [Your Name]  |  [Department]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38404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Shi et al. (2025), IEEE Comm. Letters — Base paper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0965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Xie et al. (2021), IEEE Trans. Signal Process. — DeepSC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43525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Vaswani et al. (2017), NeurIPS — Transformer backbone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46085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Papineni et al. (2002), ACL — BLEU metric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SecureDSC — B.Tech Project</dc:title>
  <dc:subject>PptxGenJS Presentation</dc:subject>
  <dc:creator>Student</dc:creator>
  <cp:lastModifiedBy>Student</cp:lastModifiedBy>
  <cp:revision>1</cp:revision>
  <dcterms:created xsi:type="dcterms:W3CDTF">2026-06-02T09:21:17Z</dcterms:created>
  <dcterms:modified xsi:type="dcterms:W3CDTF">2026-06-02T09:21:17Z</dcterms:modified>
</cp:coreProperties>
</file>